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Questions:  1.</a:t>
            </a:r>
            <a:endParaRPr lang="en-US" sz="1400" dirty="0"/>
          </a:p>
          <a:p>
            <a:pPr algn="l" indent="0" marL="0">
              <a:buNone/>
            </a:pPr>
            <a:endParaRPr lang="en-US" sz="1400" dirty="0"/>
          </a:p>
          <a:p>
            <a:pPr algn="l" indent="0" marL="0">
              <a:buNone/>
            </a:pPr>
            <a:r>
              <a:rPr lang="en-US" sz="1400" dirty="0">
                <a:solidFill>
                  <a:srgbClr val="000000"/>
                </a:solidFill>
              </a:rPr>
              <a:t>Which MongoDB command is used to update a single document?  A) updateOne()  B) updateMany()  C) replaceAll()  D) modifyOne()  2.</a:t>
            </a:r>
            <a:endParaRPr lang="en-US" sz="1400" dirty="0"/>
          </a:p>
          <a:p>
            <a:pPr algn="l" indent="0" marL="0">
              <a:buNone/>
            </a:pPr>
            <a:endParaRPr lang="en-US" sz="1400" dirty="0"/>
          </a:p>
          <a:p>
            <a:pPr algn="l" indent="0" marL="0">
              <a:buNone/>
            </a:pPr>
            <a:r>
              <a:rPr lang="en-US" sz="1400" dirty="0">
                <a:solidFill>
                  <a:srgbClr val="000000"/>
                </a:solidFill>
              </a:rPr>
              <a:t>Which operator is used to delete a field in MongoDB?  A) $remove  B) $unset  C) $delete  D) $drop  3.</a:t>
            </a:r>
            <a:endParaRPr lang="en-US" sz="1400" dirty="0"/>
          </a:p>
          <a:p>
            <a:pPr algn="l" indent="0" marL="0">
              <a:buNone/>
            </a:pPr>
            <a:endParaRPr lang="en-US" sz="1400" dirty="0"/>
          </a:p>
          <a:p>
            <a:pPr algn="l" indent="0" marL="0">
              <a:buNone/>
            </a:pPr>
            <a:r>
              <a:rPr lang="en-US" sz="1400" dirty="0">
                <a:solidFill>
                  <a:srgbClr val="000000"/>
                </a:solidFill>
              </a:rPr>
              <a:t>Which operator is used to multiply a field value?  A) $inc  B) $mul  C) $set  D) $add  4.</a:t>
            </a:r>
            <a:endParaRPr lang="en-US" sz="1400" dirty="0"/>
          </a:p>
          <a:p>
            <a:pPr algn="l" indent="0" marL="0">
              <a:buNone/>
            </a:pPr>
            <a:endParaRPr lang="en-US" sz="1400" dirty="0"/>
          </a:p>
          <a:p>
            <a:pPr algn="l" indent="0" marL="0">
              <a:buNone/>
            </a:pPr>
            <a:r>
              <a:rPr lang="en-US" sz="1400" dirty="0">
                <a:solidFill>
                  <a:srgbClr val="000000"/>
                </a:solidFill>
              </a:rPr>
              <a:t>Which operator adds multiple elements to an array?  A) $pushAll  B) $addToSet  C) $push  D) $each  5.</a:t>
            </a:r>
            <a:endParaRPr lang="en-US" sz="1400" dirty="0"/>
          </a:p>
          <a:p>
            <a:pPr algn="l" indent="0" marL="0">
              <a:buNone/>
            </a:pPr>
            <a:endParaRPr lang="en-US" sz="1400" dirty="0"/>
          </a:p>
          <a:p>
            <a:pPr algn="l" indent="0" marL="0">
              <a:buNone/>
            </a:pPr>
            <a:r>
              <a:rPr lang="en-US" sz="1400" dirty="0">
                <a:solidFill>
                  <a:srgbClr val="000000"/>
                </a:solidFill>
              </a:rPr>
              <a:t>Which MongoDB method replaces a document entirely?  A) replaceOne()  B) updateOne()  C) modifyOne()  D) changeOne()  6.</a:t>
            </a:r>
            <a:endParaRPr lang="en-US" sz="1400" dirty="0"/>
          </a:p>
          <a:p>
            <a:pPr algn="l" indent="0" marL="0">
              <a:buNone/>
            </a:pPr>
            <a:endParaRPr lang="en-US" sz="1400" dirty="0"/>
          </a:p>
          <a:p>
            <a:pPr algn="l" indent="0" marL="0">
              <a:buNone/>
            </a:pPr>
            <a:r>
              <a:rPr lang="en-US" sz="1400" dirty="0">
                <a:solidFill>
                  <a:srgbClr val="000000"/>
                </a:solidFill>
              </a:rPr>
              <a:t>Which operator is used for OR condition?  A) $or  B) $and  C) $nor  D) $not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7.</a:t>
            </a:r>
            <a:endParaRPr lang="en-US" sz="1400" dirty="0"/>
          </a:p>
          <a:p>
            <a:pPr algn="l" indent="0" marL="0">
              <a:buNone/>
            </a:pPr>
            <a:endParaRPr lang="en-US" sz="1400" dirty="0"/>
          </a:p>
          <a:p>
            <a:pPr algn="l" indent="0" marL="0">
              <a:buNone/>
            </a:pPr>
            <a:r>
              <a:rPr lang="en-US" sz="1400" dirty="0">
                <a:solidFill>
                  <a:srgbClr val="000000"/>
                </a:solidFill>
              </a:rPr>
              <a:t>Which operator is used for AND condition?  A) $and  B) $or  C) $nor  D) $not  8.</a:t>
            </a:r>
            <a:endParaRPr lang="en-US" sz="1400" dirty="0"/>
          </a:p>
          <a:p>
            <a:pPr algn="l" indent="0" marL="0">
              <a:buNone/>
            </a:pPr>
            <a:endParaRPr lang="en-US" sz="1400" dirty="0"/>
          </a:p>
          <a:p>
            <a:pPr algn="l" indent="0" marL="0">
              <a:buNone/>
            </a:pPr>
            <a:r>
              <a:rPr lang="en-US" sz="1400" dirty="0">
                <a:solidFill>
                  <a:srgbClr val="000000"/>
                </a:solidFill>
              </a:rPr>
              <a:t>Which operator negates a condition?  A) $not  B) $nor  C) $and  D) $or  9.</a:t>
            </a:r>
            <a:endParaRPr lang="en-US" sz="1400" dirty="0"/>
          </a:p>
          <a:p>
            <a:pPr algn="l" indent="0" marL="0">
              <a:buNone/>
            </a:pPr>
            <a:endParaRPr lang="en-US" sz="1400" dirty="0"/>
          </a:p>
          <a:p>
            <a:pPr algn="l" indent="0" marL="0">
              <a:buNone/>
            </a:pPr>
            <a:r>
              <a:rPr lang="en-US" sz="1400" dirty="0">
                <a:solidFill>
                  <a:srgbClr val="000000"/>
                </a:solidFill>
              </a:rPr>
              <a:t>Which aggregation stage counts documents?  A) $count  B) $group  C) $sum  D) $total  10.</a:t>
            </a:r>
            <a:endParaRPr lang="en-US" sz="1400" dirty="0"/>
          </a:p>
          <a:p>
            <a:pPr algn="l" indent="0" marL="0">
              <a:buNone/>
            </a:pPr>
            <a:endParaRPr lang="en-US" sz="1400" dirty="0"/>
          </a:p>
          <a:p>
            <a:pPr algn="l" indent="0" marL="0">
              <a:buNone/>
            </a:pPr>
            <a:r>
              <a:rPr lang="en-US" sz="1400" dirty="0">
                <a:solidFill>
                  <a:srgbClr val="000000"/>
                </a:solidFill>
              </a:rPr>
              <a:t>Which aggregation stage limits fields displayed?  A) $limit  B) $project  C) $match  D) $group  11.</a:t>
            </a:r>
            <a:endParaRPr lang="en-US" sz="1400" dirty="0"/>
          </a:p>
          <a:p>
            <a:pPr algn="l" indent="0" marL="0">
              <a:buNone/>
            </a:pPr>
            <a:endParaRPr lang="en-US" sz="1400" dirty="0"/>
          </a:p>
          <a:p>
            <a:pPr algn="l" indent="0" marL="0">
              <a:buNone/>
            </a:pPr>
            <a:r>
              <a:rPr lang="en-US" sz="1400" dirty="0">
                <a:solidFill>
                  <a:srgbClr val="000000"/>
                </a:solidFill>
              </a:rPr>
              <a:t>Which aggregation stage filters after grouping?  A) $match  B) $having  C) $group  D) $filter  12.</a:t>
            </a:r>
            <a:endParaRPr lang="en-US" sz="1400" dirty="0"/>
          </a:p>
          <a:p>
            <a:pPr algn="l" indent="0" marL="0">
              <a:buNone/>
            </a:pPr>
            <a:endParaRPr lang="en-US" sz="1400" dirty="0"/>
          </a:p>
          <a:p>
            <a:pPr algn="l" indent="0" marL="0">
              <a:buNone/>
            </a:pPr>
            <a:r>
              <a:rPr lang="en-US" sz="1400" dirty="0">
                <a:solidFill>
                  <a:srgbClr val="000000"/>
                </a:solidFill>
              </a:rPr>
              <a:t>Which aggregation stage sorts in ascending order?  A) $sort:1  B) $sort:-1  C) $order:1  D) $order:-1  13.</a:t>
            </a:r>
            <a:endParaRPr lang="en-US" sz="1400" dirty="0"/>
          </a:p>
          <a:p>
            <a:pPr algn="l" indent="0" marL="0">
              <a:buNone/>
            </a:pPr>
            <a:endParaRPr lang="en-US" sz="1400" dirty="0"/>
          </a:p>
          <a:p>
            <a:pPr algn="l" indent="0" marL="0">
              <a:buNone/>
            </a:pPr>
            <a:r>
              <a:rPr lang="en-US" sz="1400" dirty="0">
                <a:solidFill>
                  <a:srgbClr val="000000"/>
                </a:solidFill>
              </a:rPr>
              <a:t>Which index type supports text search?  A) Text Index  B) Compound Index  C) Single Index  D) Unique Index  14.</a:t>
            </a:r>
            <a:endParaRPr lang="en-US" sz="1400" dirty="0"/>
          </a:p>
          <a:p>
            <a:pPr algn="l" indent="0" marL="0">
              <a:buNone/>
            </a:pPr>
            <a:endParaRPr lang="en-US" sz="1400" dirty="0"/>
          </a:p>
          <a:p>
            <a:pPr algn="l" indent="0" marL="0">
              <a:buNone/>
            </a:pPr>
            <a:r>
              <a:rPr lang="en-US" sz="1400" dirty="0">
                <a:solidFill>
                  <a:srgbClr val="000000"/>
                </a:solidFill>
              </a:rPr>
              <a:t>Which index type is used for geospatial data?  A) Geo Index</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B) Map Index  C) Location Index  D) Area Index  15.</a:t>
            </a:r>
            <a:endParaRPr lang="en-US" sz="1400" dirty="0"/>
          </a:p>
          <a:p>
            <a:pPr algn="l" indent="0" marL="0">
              <a:buNone/>
            </a:pPr>
            <a:endParaRPr lang="en-US" sz="1400" dirty="0"/>
          </a:p>
          <a:p>
            <a:pPr algn="l" indent="0" marL="0">
              <a:buNone/>
            </a:pPr>
            <a:r>
              <a:rPr lang="en-US" sz="1400" dirty="0">
                <a:solidFill>
                  <a:srgbClr val="000000"/>
                </a:solidFill>
              </a:rPr>
              <a:t>Which MongoDB tool is used for backup?  A) mongodump()  B) mongorestore()  C) mongobackup()  D) dbbackup()  16.</a:t>
            </a:r>
            <a:endParaRPr lang="en-US" sz="1400" dirty="0"/>
          </a:p>
          <a:p>
            <a:pPr algn="l" indent="0" marL="0">
              <a:buNone/>
            </a:pPr>
            <a:endParaRPr lang="en-US" sz="1400" dirty="0"/>
          </a:p>
          <a:p>
            <a:pPr algn="l" indent="0" marL="0">
              <a:buNone/>
            </a:pPr>
            <a:r>
              <a:rPr lang="en-US" sz="1400" dirty="0">
                <a:solidFill>
                  <a:srgbClr val="000000"/>
                </a:solidFill>
              </a:rPr>
              <a:t>Which MongoDB tool restores data?  A) mongodump()  B) mongorestore()  C) restoreDB()  D) dbrestore()  17.</a:t>
            </a:r>
            <a:endParaRPr lang="en-US" sz="1400" dirty="0"/>
          </a:p>
          <a:p>
            <a:pPr algn="l" indent="0" marL="0">
              <a:buNone/>
            </a:pPr>
            <a:endParaRPr lang="en-US" sz="1400" dirty="0"/>
          </a:p>
          <a:p>
            <a:pPr algn="l" indent="0" marL="0">
              <a:buNone/>
            </a:pPr>
            <a:r>
              <a:rPr lang="en-US" sz="1400" dirty="0">
                <a:solidFill>
                  <a:srgbClr val="000000"/>
                </a:solidFill>
              </a:rPr>
              <a:t>Which MongoDB feature provides high availability?  A) Replication  B) Sharding  C) Indexing  D) Aggregation  18.</a:t>
            </a:r>
            <a:endParaRPr lang="en-US" sz="1400" dirty="0"/>
          </a:p>
          <a:p>
            <a:pPr algn="l" indent="0" marL="0">
              <a:buNone/>
            </a:pPr>
            <a:endParaRPr lang="en-US" sz="1400" dirty="0"/>
          </a:p>
          <a:p>
            <a:pPr algn="l" indent="0" marL="0">
              <a:buNone/>
            </a:pPr>
            <a:r>
              <a:rPr lang="en-US" sz="1400" dirty="0">
                <a:solidFill>
                  <a:srgbClr val="000000"/>
                </a:solidFill>
              </a:rPr>
              <a:t>Which MongoDB feature distributes data across servers?  A) Replication  B) Sharding  C) Indexing  D) Clustering  19.</a:t>
            </a:r>
            <a:endParaRPr lang="en-US" sz="1400" dirty="0"/>
          </a:p>
          <a:p>
            <a:pPr algn="l" indent="0" marL="0">
              <a:buNone/>
            </a:pPr>
            <a:endParaRPr lang="en-US" sz="1400" dirty="0"/>
          </a:p>
          <a:p>
            <a:pPr algn="l" indent="0" marL="0">
              <a:buNone/>
            </a:pPr>
            <a:r>
              <a:rPr lang="en-US" sz="1400" dirty="0">
                <a:solidFill>
                  <a:srgbClr val="000000"/>
                </a:solidFill>
              </a:rPr>
              <a:t>Which type of relationship is best for embedding?  A) One-to-Few  B) One-to-Many  C) Many-to-Many  D) None  20.</a:t>
            </a:r>
            <a:endParaRPr lang="en-US" sz="1400" dirty="0"/>
          </a:p>
          <a:p>
            <a:pPr algn="l" indent="0" marL="0">
              <a:buNone/>
            </a:pPr>
            <a:endParaRPr lang="en-US" sz="1400" dirty="0"/>
          </a:p>
          <a:p>
            <a:pPr algn="l" indent="0" marL="0">
              <a:buNone/>
            </a:pPr>
            <a:r>
              <a:rPr lang="en-US" sz="1400" dirty="0">
                <a:solidFill>
                  <a:srgbClr val="000000"/>
                </a:solidFill>
              </a:rPr>
              <a:t>Which type of relationship is best for referencing?  A) One-to-Few  B) One-to-Many  C) Large datasets  D) Small datasets  21.</a:t>
            </a:r>
            <a:endParaRPr lang="en-US" sz="1400" dirty="0"/>
          </a:p>
          <a:p>
            <a:pPr algn="l" indent="0" marL="0">
              <a:buNone/>
            </a:pPr>
            <a:endParaRPr lang="en-US" sz="1400" dirty="0"/>
          </a:p>
          <a:p>
            <a:pPr algn="l" indent="0" marL="0">
              <a:buNone/>
            </a:pPr>
            <a:r>
              <a:rPr lang="en-US" sz="1400" dirty="0">
                <a:solidFill>
                  <a:srgbClr val="000000"/>
                </a:solidFill>
              </a:rPr>
              <a:t>Which SQL clause is used to rename a column?  A) RENAME  B) AS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C) CHANGE  D) ALTER  22.</a:t>
            </a:r>
            <a:endParaRPr lang="en-US" sz="1400" dirty="0"/>
          </a:p>
          <a:p>
            <a:pPr algn="l" indent="0" marL="0">
              <a:buNone/>
            </a:pPr>
            <a:endParaRPr lang="en-US" sz="1400" dirty="0"/>
          </a:p>
          <a:p>
            <a:pPr algn="l" indent="0" marL="0">
              <a:buNone/>
            </a:pPr>
            <a:r>
              <a:rPr lang="en-US" sz="1400" dirty="0">
                <a:solidFill>
                  <a:srgbClr val="000000"/>
                </a:solidFill>
              </a:rPr>
              <a:t>Which SQL command adds a new column?  A) ADD COLUMN  B) INSERT COLUMN  C) CREATE COLUMN  D) NEW COLUMN  23.</a:t>
            </a:r>
            <a:endParaRPr lang="en-US" sz="1400" dirty="0"/>
          </a:p>
          <a:p>
            <a:pPr algn="l" indent="0" marL="0">
              <a:buNone/>
            </a:pPr>
            <a:endParaRPr lang="en-US" sz="1400" dirty="0"/>
          </a:p>
          <a:p>
            <a:pPr algn="l" indent="0" marL="0">
              <a:buNone/>
            </a:pPr>
            <a:r>
              <a:rPr lang="en-US" sz="1400" dirty="0">
                <a:solidFill>
                  <a:srgbClr val="000000"/>
                </a:solidFill>
              </a:rPr>
              <a:t>Which SQL constraint ensures unique values?  A) PRIMARY KEY  B) FOREIGN KEY  C) UNIQUE  D) CHECK  24.</a:t>
            </a:r>
            <a:endParaRPr lang="en-US" sz="1400" dirty="0"/>
          </a:p>
          <a:p>
            <a:pPr algn="l" indent="0" marL="0">
              <a:buNone/>
            </a:pPr>
            <a:endParaRPr lang="en-US" sz="1400" dirty="0"/>
          </a:p>
          <a:p>
            <a:pPr algn="l" indent="0" marL="0">
              <a:buNone/>
            </a:pPr>
            <a:r>
              <a:rPr lang="en-US" sz="1400" dirty="0">
                <a:solidFill>
                  <a:srgbClr val="000000"/>
                </a:solidFill>
              </a:rPr>
              <a:t>Which SQL constraint ensures referential integrity?  A) PRIMARY KEY  B) FOREIGN KEY  C) UNIQUE  D) NOT NULL  25.</a:t>
            </a:r>
            <a:endParaRPr lang="en-US" sz="1400" dirty="0"/>
          </a:p>
          <a:p>
            <a:pPr algn="l" indent="0" marL="0">
              <a:buNone/>
            </a:pPr>
            <a:endParaRPr lang="en-US" sz="1400" dirty="0"/>
          </a:p>
          <a:p>
            <a:pPr algn="l" indent="0" marL="0">
              <a:buNone/>
            </a:pPr>
            <a:r>
              <a:rPr lang="en-US" sz="1400" dirty="0">
                <a:solidFill>
                  <a:srgbClr val="000000"/>
                </a:solidFill>
              </a:rPr>
              <a:t>Which SQL clause is used with aggregate functions?  A) WHERE  B) GROUP BY  C) HAVING  D) ORDER BY  26.</a:t>
            </a:r>
            <a:endParaRPr lang="en-US" sz="1400" dirty="0"/>
          </a:p>
          <a:p>
            <a:pPr algn="l" indent="0" marL="0">
              <a:buNone/>
            </a:pPr>
            <a:endParaRPr lang="en-US" sz="1400" dirty="0"/>
          </a:p>
          <a:p>
            <a:pPr algn="l" indent="0" marL="0">
              <a:buNone/>
            </a:pPr>
            <a:r>
              <a:rPr lang="en-US" sz="1400" dirty="0">
                <a:solidFill>
                  <a:srgbClr val="000000"/>
                </a:solidFill>
              </a:rPr>
              <a:t>Which SQL clause is executed after GROUP BY?  A) WHERE  B) HAVING  C) SELECT  D) ORDER BY  27.</a:t>
            </a:r>
            <a:endParaRPr lang="en-US" sz="1400" dirty="0"/>
          </a:p>
          <a:p>
            <a:pPr algn="l" indent="0" marL="0">
              <a:buNone/>
            </a:pPr>
            <a:endParaRPr lang="en-US" sz="1400" dirty="0"/>
          </a:p>
          <a:p>
            <a:pPr algn="l" indent="0" marL="0">
              <a:buNone/>
            </a:pPr>
            <a:r>
              <a:rPr lang="en-US" sz="1400" dirty="0">
                <a:solidFill>
                  <a:srgbClr val="000000"/>
                </a:solidFill>
              </a:rPr>
              <a:t>Which SQL function calculates average?  A) AVG()  B) MEAN()  C) SUM()  D) COUNT()  28.</a:t>
            </a:r>
            <a:endParaRPr lang="en-US" sz="1400" dirty="0"/>
          </a:p>
          <a:p>
            <a:pPr algn="l" indent="0" marL="0">
              <a:buNone/>
            </a:pPr>
            <a:endParaRPr lang="en-US" sz="1400" dirty="0"/>
          </a:p>
          <a:p>
            <a:pPr algn="l" indent="0" marL="0">
              <a:buNone/>
            </a:pPr>
            <a:r>
              <a:rPr lang="en-US" sz="1400" dirty="0">
                <a:solidFill>
                  <a:srgbClr val="000000"/>
                </a:solidFill>
              </a:rPr>
              <a:t>Which SQL function joins strings?  A) CONCAT()  B) JOIN()  C) MERGE()  D) APPEND()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29.</a:t>
            </a:r>
            <a:endParaRPr lang="en-US" sz="1400" dirty="0"/>
          </a:p>
          <a:p>
            <a:pPr algn="l" indent="0" marL="0">
              <a:buNone/>
            </a:pPr>
            <a:endParaRPr lang="en-US" sz="1400" dirty="0"/>
          </a:p>
          <a:p>
            <a:pPr algn="l" indent="0" marL="0">
              <a:buNone/>
            </a:pPr>
            <a:r>
              <a:rPr lang="en-US" sz="1400" dirty="0">
                <a:solidFill>
                  <a:srgbClr val="000000"/>
                </a:solidFill>
              </a:rPr>
              <a:t>Which SQL keyword removes all records but keeps table?  A) DELETE  B) REMOVE  C) TRUNCATE  D) DROP  30.</a:t>
            </a:r>
            <a:endParaRPr lang="en-US" sz="1400" dirty="0"/>
          </a:p>
          <a:p>
            <a:pPr algn="l" indent="0" marL="0">
              <a:buNone/>
            </a:pPr>
            <a:endParaRPr lang="en-US" sz="1400" dirty="0"/>
          </a:p>
          <a:p>
            <a:pPr algn="l" indent="0" marL="0">
              <a:buNone/>
            </a:pPr>
            <a:r>
              <a:rPr lang="en-US" sz="1400" dirty="0">
                <a:solidFill>
                  <a:srgbClr val="000000"/>
                </a:solidFill>
              </a:rPr>
              <a:t>Which SQL keyword removes table structure?  A) DELETE  B) TRUNCATE  C) DROP  D) CLEAR  31.</a:t>
            </a:r>
            <a:endParaRPr lang="en-US" sz="1400" dirty="0"/>
          </a:p>
          <a:p>
            <a:pPr algn="l" indent="0" marL="0">
              <a:buNone/>
            </a:pPr>
            <a:endParaRPr lang="en-US" sz="1400" dirty="0"/>
          </a:p>
          <a:p>
            <a:pPr algn="l" indent="0" marL="0">
              <a:buNone/>
            </a:pPr>
            <a:r>
              <a:rPr lang="en-US" sz="1400" dirty="0">
                <a:solidFill>
                  <a:srgbClr val="000000"/>
                </a:solidFill>
              </a:rPr>
              <a:t>Which SQL join returns all rows from both tables?  A) INNER JOIN  B) LEFT JOIN  C) RIGHT JOIN  D) FULL JOIN  32.</a:t>
            </a:r>
            <a:endParaRPr lang="en-US" sz="1400" dirty="0"/>
          </a:p>
          <a:p>
            <a:pPr algn="l" indent="0" marL="0">
              <a:buNone/>
            </a:pPr>
            <a:endParaRPr lang="en-US" sz="1400" dirty="0"/>
          </a:p>
          <a:p>
            <a:pPr algn="l" indent="0" marL="0">
              <a:buNone/>
            </a:pPr>
            <a:r>
              <a:rPr lang="en-US" sz="1400" dirty="0">
                <a:solidFill>
                  <a:srgbClr val="000000"/>
                </a:solidFill>
              </a:rPr>
              <a:t>Which SQL join returns unmatched rows from right table?  A) LEFT JOIN  B) RIGHT JOIN  C) INNER JOIN  D) FULL JOIN  33.</a:t>
            </a:r>
            <a:endParaRPr lang="en-US" sz="1400" dirty="0"/>
          </a:p>
          <a:p>
            <a:pPr algn="l" indent="0" marL="0">
              <a:buNone/>
            </a:pPr>
            <a:endParaRPr lang="en-US" sz="1400" dirty="0"/>
          </a:p>
          <a:p>
            <a:pPr algn="l" indent="0" marL="0">
              <a:buNone/>
            </a:pPr>
            <a:r>
              <a:rPr lang="en-US" sz="1400" dirty="0">
                <a:solidFill>
                  <a:srgbClr val="000000"/>
                </a:solidFill>
              </a:rPr>
              <a:t>Which SQL operator is used with subqueries?  A) IN  B) EXISTS  C) ALL  D) ANY  34.</a:t>
            </a:r>
            <a:endParaRPr lang="en-US" sz="1400" dirty="0"/>
          </a:p>
          <a:p>
            <a:pPr algn="l" indent="0" marL="0">
              <a:buNone/>
            </a:pPr>
            <a:endParaRPr lang="en-US" sz="1400" dirty="0"/>
          </a:p>
          <a:p>
            <a:pPr algn="l" indent="0" marL="0">
              <a:buNone/>
            </a:pPr>
            <a:r>
              <a:rPr lang="en-US" sz="1400" dirty="0">
                <a:solidFill>
                  <a:srgbClr val="000000"/>
                </a:solidFill>
              </a:rPr>
              <a:t>Which SQL operator compares a value to any value in subquery?  A) ALL  B) ANY  C) IN  D) EXISTS  35.</a:t>
            </a:r>
            <a:endParaRPr lang="en-US" sz="1400" dirty="0"/>
          </a:p>
          <a:p>
            <a:pPr algn="l" indent="0" marL="0">
              <a:buNone/>
            </a:pPr>
            <a:endParaRPr lang="en-US" sz="1400" dirty="0"/>
          </a:p>
          <a:p>
            <a:pPr algn="l" indent="0" marL="0">
              <a:buNone/>
            </a:pPr>
            <a:r>
              <a:rPr lang="en-US" sz="1400" dirty="0">
                <a:solidFill>
                  <a:srgbClr val="000000"/>
                </a:solidFill>
              </a:rPr>
              <a:t>Which SQL operator compares a value to all values?  A) ALL  B) ANY  C) IN  D) EXISTS  36.</a:t>
            </a:r>
            <a:endParaRPr lang="en-US" sz="1400" dirty="0"/>
          </a:p>
          <a:p>
            <a:pPr algn="l" indent="0" marL="0">
              <a:buNone/>
            </a:pPr>
            <a:endParaRPr lang="en-US" sz="1400" dirty="0"/>
          </a:p>
          <a:p>
            <a:pPr algn="l" indent="0" marL="0">
              <a:buNone/>
            </a:pPr>
            <a:r>
              <a:rPr lang="en-US" sz="1400" dirty="0">
                <a:solidFill>
                  <a:srgbClr val="000000"/>
                </a:solidFill>
              </a:rPr>
              <a:t>Which SQL keyword is used to alias a table?  A) AS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B) ALIAS  C) RENAME  D) NAME  37.</a:t>
            </a:r>
            <a:endParaRPr lang="en-US" sz="1400" dirty="0"/>
          </a:p>
          <a:p>
            <a:pPr algn="l" indent="0" marL="0">
              <a:buNone/>
            </a:pPr>
            <a:endParaRPr lang="en-US" sz="1400" dirty="0"/>
          </a:p>
          <a:p>
            <a:pPr algn="l" indent="0" marL="0">
              <a:buNone/>
            </a:pPr>
            <a:r>
              <a:rPr lang="en-US" sz="1400" dirty="0">
                <a:solidFill>
                  <a:srgbClr val="000000"/>
                </a:solidFill>
              </a:rPr>
              <a:t>Which SQL clause removes duplicate rows in result?  A) DISTINCT  B) UNIQUE  C) FILTER  D) SORT  38.</a:t>
            </a:r>
            <a:endParaRPr lang="en-US" sz="1400" dirty="0"/>
          </a:p>
          <a:p>
            <a:pPr algn="l" indent="0" marL="0">
              <a:buNone/>
            </a:pPr>
            <a:endParaRPr lang="en-US" sz="1400" dirty="0"/>
          </a:p>
          <a:p>
            <a:pPr algn="l" indent="0" marL="0">
              <a:buNone/>
            </a:pPr>
            <a:r>
              <a:rPr lang="en-US" sz="1400" dirty="0">
                <a:solidFill>
                  <a:srgbClr val="000000"/>
                </a:solidFill>
              </a:rPr>
              <a:t>Which SQL clause sorts multiple columns?  A) ORDER BY  B) GROUP BY  C) SORT BY  D) ARRANGE  39.</a:t>
            </a:r>
            <a:endParaRPr lang="en-US" sz="1400" dirty="0"/>
          </a:p>
          <a:p>
            <a:pPr algn="l" indent="0" marL="0">
              <a:buNone/>
            </a:pPr>
            <a:endParaRPr lang="en-US" sz="1400" dirty="0"/>
          </a:p>
          <a:p>
            <a:pPr algn="l" indent="0" marL="0">
              <a:buNone/>
            </a:pPr>
            <a:r>
              <a:rPr lang="en-US" sz="1400" dirty="0">
                <a:solidFill>
                  <a:srgbClr val="000000"/>
                </a:solidFill>
              </a:rPr>
              <a:t>Which SQL clause filters before grouping?  A) WHERE  B) HAVING  C) GROUP BY  D) ORDER BY  40.</a:t>
            </a:r>
            <a:endParaRPr lang="en-US" sz="1400" dirty="0"/>
          </a:p>
          <a:p>
            <a:pPr algn="l" indent="0" marL="0">
              <a:buNone/>
            </a:pPr>
            <a:endParaRPr lang="en-US" sz="1400" dirty="0"/>
          </a:p>
          <a:p>
            <a:pPr algn="l" indent="0" marL="0">
              <a:buNone/>
            </a:pPr>
            <a:r>
              <a:rPr lang="en-US" sz="1400" dirty="0">
                <a:solidFill>
                  <a:srgbClr val="000000"/>
                </a:solidFill>
              </a:rPr>
              <a:t>Which SQL clause filters after grouping?  A) WHERE  B) HAVING  C) GROUP BY  D) ORDER BY  Answers  1.</a:t>
            </a:r>
            <a:endParaRPr lang="en-US" sz="1400" dirty="0"/>
          </a:p>
          <a:p>
            <a:pPr algn="l" indent="0" marL="0">
              <a:buNone/>
            </a:pPr>
            <a:endParaRPr lang="en-US" sz="1400" dirty="0"/>
          </a:p>
          <a:p>
            <a:pPr algn="l" indent="0" marL="0">
              <a:buNone/>
            </a:pPr>
            <a:r>
              <a:rPr lang="en-US" sz="1400" dirty="0">
                <a:solidFill>
                  <a:srgbClr val="000000"/>
                </a:solidFill>
              </a:rPr>
              <a:t>A  2.</a:t>
            </a:r>
            <a:endParaRPr lang="en-US" sz="1400" dirty="0"/>
          </a:p>
          <a:p>
            <a:pPr algn="l" indent="0" marL="0">
              <a:buNone/>
            </a:pPr>
            <a:endParaRPr lang="en-US" sz="1400" dirty="0"/>
          </a:p>
          <a:p>
            <a:pPr algn="l" indent="0" marL="0">
              <a:buNone/>
            </a:pPr>
            <a:r>
              <a:rPr lang="en-US" sz="1400" dirty="0">
                <a:solidFill>
                  <a:srgbClr val="000000"/>
                </a:solidFill>
              </a:rPr>
              <a:t>B  3.</a:t>
            </a:r>
            <a:endParaRPr lang="en-US" sz="1400" dirty="0"/>
          </a:p>
          <a:p>
            <a:pPr algn="l" indent="0" marL="0">
              <a:buNone/>
            </a:pPr>
            <a:endParaRPr lang="en-US" sz="1400" dirty="0"/>
          </a:p>
          <a:p>
            <a:pPr algn="l" indent="0" marL="0">
              <a:buNone/>
            </a:pPr>
            <a:r>
              <a:rPr lang="en-US" sz="1400" dirty="0">
                <a:solidFill>
                  <a:srgbClr val="000000"/>
                </a:solidFill>
              </a:rPr>
              <a:t>B  4.</a:t>
            </a:r>
            <a:endParaRPr lang="en-US" sz="1400" dirty="0"/>
          </a:p>
          <a:p>
            <a:pPr algn="l" indent="0" marL="0">
              <a:buNone/>
            </a:pPr>
            <a:endParaRPr lang="en-US" sz="1400" dirty="0"/>
          </a:p>
          <a:p>
            <a:pPr algn="l" indent="0" marL="0">
              <a:buNone/>
            </a:pPr>
            <a:r>
              <a:rPr lang="en-US" sz="1400" dirty="0">
                <a:solidFill>
                  <a:srgbClr val="000000"/>
                </a:solidFill>
              </a:rPr>
              <a:t>D  5.</a:t>
            </a:r>
            <a:endParaRPr lang="en-US" sz="1400" dirty="0"/>
          </a:p>
          <a:p>
            <a:pPr algn="l" indent="0" marL="0">
              <a:buNone/>
            </a:pPr>
            <a:endParaRPr lang="en-US" sz="1400" dirty="0"/>
          </a:p>
          <a:p>
            <a:pPr algn="l" indent="0" marL="0">
              <a:buNone/>
            </a:pPr>
            <a:r>
              <a:rPr lang="en-US" sz="1400" dirty="0">
                <a:solidFill>
                  <a:srgbClr val="000000"/>
                </a:solidFill>
              </a:rPr>
              <a:t>A  6.</a:t>
            </a:r>
            <a:endParaRPr lang="en-US" sz="1400" dirty="0"/>
          </a:p>
          <a:p>
            <a:pPr algn="l" indent="0" marL="0">
              <a:buNone/>
            </a:pPr>
            <a:endParaRPr lang="en-US" sz="1400" dirty="0"/>
          </a:p>
          <a:p>
            <a:pPr algn="l" indent="0" marL="0">
              <a:buNone/>
            </a:pPr>
            <a:r>
              <a:rPr lang="en-US" sz="1400" dirty="0">
                <a:solidFill>
                  <a:srgbClr val="000000"/>
                </a:solidFill>
              </a:rPr>
              <a:t>A  7.</a:t>
            </a:r>
            <a:endParaRPr lang="en-US" sz="1400" dirty="0"/>
          </a:p>
          <a:p>
            <a:pPr algn="l" indent="0" marL="0">
              <a:buNone/>
            </a:pPr>
            <a:endParaRPr lang="en-US" sz="1400" dirty="0"/>
          </a:p>
          <a:p>
            <a:pPr algn="l" indent="0" marL="0">
              <a:buNone/>
            </a:pPr>
            <a:r>
              <a:rPr lang="en-US" sz="1400" dirty="0">
                <a:solidFill>
                  <a:srgbClr val="000000"/>
                </a:solidFill>
              </a:rPr>
              <a:t>A  8.</a:t>
            </a:r>
            <a:endParaRPr lang="en-US" sz="1400" dirty="0"/>
          </a:p>
          <a:p>
            <a:pPr algn="l" indent="0" marL="0">
              <a:buNone/>
            </a:pPr>
            <a:endParaRPr lang="en-US" sz="1400" dirty="0"/>
          </a:p>
          <a:p>
            <a:pPr algn="l" indent="0" marL="0">
              <a:buNone/>
            </a:pPr>
            <a:r>
              <a:rPr lang="en-US" sz="1400" dirty="0">
                <a:solidFill>
                  <a:srgbClr val="000000"/>
                </a:solidFill>
              </a:rPr>
              <a:t>A  9.</a:t>
            </a:r>
            <a:endParaRPr lang="en-US" sz="1400" dirty="0"/>
          </a:p>
          <a:p>
            <a:pPr algn="l" indent="0" marL="0">
              <a:buNone/>
            </a:pPr>
            <a:endParaRPr lang="en-US" sz="1400" dirty="0"/>
          </a:p>
          <a:p>
            <a:pPr algn="l" indent="0" marL="0">
              <a:buNone/>
            </a:pPr>
            <a:r>
              <a:rPr lang="en-US" sz="1400" dirty="0">
                <a:solidFill>
                  <a:srgbClr val="000000"/>
                </a:solidFill>
              </a:rPr>
              <a:t>A  10.</a:t>
            </a:r>
            <a:endParaRPr lang="en-US" sz="1400" dirty="0"/>
          </a:p>
          <a:p>
            <a:pPr algn="l" indent="0" marL="0">
              <a:buNone/>
            </a:pPr>
            <a:endParaRPr lang="en-US" sz="1400" dirty="0"/>
          </a:p>
          <a:p>
            <a:pPr algn="l" indent="0" marL="0">
              <a:buNone/>
            </a:pPr>
            <a:r>
              <a:rPr lang="en-US" sz="1400" dirty="0">
                <a:solidFill>
                  <a:srgbClr val="000000"/>
                </a:solidFill>
              </a:rPr>
              <a:t>B</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11.</a:t>
            </a:r>
            <a:endParaRPr lang="en-US" sz="1400" dirty="0"/>
          </a:p>
          <a:p>
            <a:pPr algn="l" indent="0" marL="0">
              <a:buNone/>
            </a:pPr>
            <a:endParaRPr lang="en-US" sz="1400" dirty="0"/>
          </a:p>
          <a:p>
            <a:pPr algn="l" indent="0" marL="0">
              <a:buNone/>
            </a:pPr>
            <a:r>
              <a:rPr lang="en-US" sz="1400" dirty="0">
                <a:solidFill>
                  <a:srgbClr val="000000"/>
                </a:solidFill>
              </a:rPr>
              <a:t>A  12.</a:t>
            </a:r>
            <a:endParaRPr lang="en-US" sz="1400" dirty="0"/>
          </a:p>
          <a:p>
            <a:pPr algn="l" indent="0" marL="0">
              <a:buNone/>
            </a:pPr>
            <a:endParaRPr lang="en-US" sz="1400" dirty="0"/>
          </a:p>
          <a:p>
            <a:pPr algn="l" indent="0" marL="0">
              <a:buNone/>
            </a:pPr>
            <a:r>
              <a:rPr lang="en-US" sz="1400" dirty="0">
                <a:solidFill>
                  <a:srgbClr val="000000"/>
                </a:solidFill>
              </a:rPr>
              <a:t>A  13.</a:t>
            </a:r>
            <a:endParaRPr lang="en-US" sz="1400" dirty="0"/>
          </a:p>
          <a:p>
            <a:pPr algn="l" indent="0" marL="0">
              <a:buNone/>
            </a:pPr>
            <a:endParaRPr lang="en-US" sz="1400" dirty="0"/>
          </a:p>
          <a:p>
            <a:pPr algn="l" indent="0" marL="0">
              <a:buNone/>
            </a:pPr>
            <a:r>
              <a:rPr lang="en-US" sz="1400" dirty="0">
                <a:solidFill>
                  <a:srgbClr val="000000"/>
                </a:solidFill>
              </a:rPr>
              <a:t>A  14.</a:t>
            </a:r>
            <a:endParaRPr lang="en-US" sz="1400" dirty="0"/>
          </a:p>
          <a:p>
            <a:pPr algn="l" indent="0" marL="0">
              <a:buNone/>
            </a:pPr>
            <a:endParaRPr lang="en-US" sz="1400" dirty="0"/>
          </a:p>
          <a:p>
            <a:pPr algn="l" indent="0" marL="0">
              <a:buNone/>
            </a:pPr>
            <a:r>
              <a:rPr lang="en-US" sz="1400" dirty="0">
                <a:solidFill>
                  <a:srgbClr val="000000"/>
                </a:solidFill>
              </a:rPr>
              <a:t>A  15.</a:t>
            </a:r>
            <a:endParaRPr lang="en-US" sz="1400" dirty="0"/>
          </a:p>
          <a:p>
            <a:pPr algn="l" indent="0" marL="0">
              <a:buNone/>
            </a:pPr>
            <a:endParaRPr lang="en-US" sz="1400" dirty="0"/>
          </a:p>
          <a:p>
            <a:pPr algn="l" indent="0" marL="0">
              <a:buNone/>
            </a:pPr>
            <a:r>
              <a:rPr lang="en-US" sz="1400" dirty="0">
                <a:solidFill>
                  <a:srgbClr val="000000"/>
                </a:solidFill>
              </a:rPr>
              <a:t>A  16.</a:t>
            </a:r>
            <a:endParaRPr lang="en-US" sz="1400" dirty="0"/>
          </a:p>
          <a:p>
            <a:pPr algn="l" indent="0" marL="0">
              <a:buNone/>
            </a:pPr>
            <a:endParaRPr lang="en-US" sz="1400" dirty="0"/>
          </a:p>
          <a:p>
            <a:pPr algn="l" indent="0" marL="0">
              <a:buNone/>
            </a:pPr>
            <a:r>
              <a:rPr lang="en-US" sz="1400" dirty="0">
                <a:solidFill>
                  <a:srgbClr val="000000"/>
                </a:solidFill>
              </a:rPr>
              <a:t>B  17.</a:t>
            </a:r>
            <a:endParaRPr lang="en-US" sz="1400" dirty="0"/>
          </a:p>
          <a:p>
            <a:pPr algn="l" indent="0" marL="0">
              <a:buNone/>
            </a:pPr>
            <a:endParaRPr lang="en-US" sz="1400" dirty="0"/>
          </a:p>
          <a:p>
            <a:pPr algn="l" indent="0" marL="0">
              <a:buNone/>
            </a:pPr>
            <a:r>
              <a:rPr lang="en-US" sz="1400" dirty="0">
                <a:solidFill>
                  <a:srgbClr val="000000"/>
                </a:solidFill>
              </a:rPr>
              <a:t>A  18.</a:t>
            </a:r>
            <a:endParaRPr lang="en-US" sz="1400" dirty="0"/>
          </a:p>
          <a:p>
            <a:pPr algn="l" indent="0" marL="0">
              <a:buNone/>
            </a:pPr>
            <a:endParaRPr lang="en-US" sz="1400" dirty="0"/>
          </a:p>
          <a:p>
            <a:pPr algn="l" indent="0" marL="0">
              <a:buNone/>
            </a:pPr>
            <a:r>
              <a:rPr lang="en-US" sz="1400" dirty="0">
                <a:solidFill>
                  <a:srgbClr val="000000"/>
                </a:solidFill>
              </a:rPr>
              <a:t>B  19.</a:t>
            </a:r>
            <a:endParaRPr lang="en-US" sz="1400" dirty="0"/>
          </a:p>
          <a:p>
            <a:pPr algn="l" indent="0" marL="0">
              <a:buNone/>
            </a:pPr>
            <a:endParaRPr lang="en-US" sz="1400" dirty="0"/>
          </a:p>
          <a:p>
            <a:pPr algn="l" indent="0" marL="0">
              <a:buNone/>
            </a:pPr>
            <a:r>
              <a:rPr lang="en-US" sz="1400" dirty="0">
                <a:solidFill>
                  <a:srgbClr val="000000"/>
                </a:solidFill>
              </a:rPr>
              <a:t>A  20.</a:t>
            </a:r>
            <a:endParaRPr lang="en-US" sz="1400" dirty="0"/>
          </a:p>
          <a:p>
            <a:pPr algn="l" indent="0" marL="0">
              <a:buNone/>
            </a:pPr>
            <a:endParaRPr lang="en-US" sz="1400" dirty="0"/>
          </a:p>
          <a:p>
            <a:pPr algn="l" indent="0" marL="0">
              <a:buNone/>
            </a:pPr>
            <a:r>
              <a:rPr lang="en-US" sz="1400" dirty="0">
                <a:solidFill>
                  <a:srgbClr val="000000"/>
                </a:solidFill>
              </a:rPr>
              <a:t>C  21.</a:t>
            </a:r>
            <a:endParaRPr lang="en-US" sz="1400" dirty="0"/>
          </a:p>
          <a:p>
            <a:pPr algn="l" indent="0" marL="0">
              <a:buNone/>
            </a:pPr>
            <a:endParaRPr lang="en-US" sz="1400" dirty="0"/>
          </a:p>
          <a:p>
            <a:pPr algn="l" indent="0" marL="0">
              <a:buNone/>
            </a:pPr>
            <a:r>
              <a:rPr lang="en-US" sz="1400" dirty="0">
                <a:solidFill>
                  <a:srgbClr val="000000"/>
                </a:solidFill>
              </a:rPr>
              <a:t>B  22.</a:t>
            </a:r>
            <a:endParaRPr lang="en-US" sz="1400" dirty="0"/>
          </a:p>
          <a:p>
            <a:pPr algn="l" indent="0" marL="0">
              <a:buNone/>
            </a:pPr>
            <a:endParaRPr lang="en-US" sz="1400" dirty="0"/>
          </a:p>
          <a:p>
            <a:pPr algn="l" indent="0" marL="0">
              <a:buNone/>
            </a:pPr>
            <a:r>
              <a:rPr lang="en-US" sz="1400" dirty="0">
                <a:solidFill>
                  <a:srgbClr val="000000"/>
                </a:solidFill>
              </a:rPr>
              <a:t>A  23.</a:t>
            </a:r>
            <a:endParaRPr lang="en-US" sz="1400" dirty="0"/>
          </a:p>
          <a:p>
            <a:pPr algn="l" indent="0" marL="0">
              <a:buNone/>
            </a:pPr>
            <a:endParaRPr lang="en-US" sz="1400" dirty="0"/>
          </a:p>
          <a:p>
            <a:pPr algn="l" indent="0" marL="0">
              <a:buNone/>
            </a:pPr>
            <a:r>
              <a:rPr lang="en-US" sz="1400" dirty="0">
                <a:solidFill>
                  <a:srgbClr val="000000"/>
                </a:solidFill>
              </a:rPr>
              <a:t>C  24.</a:t>
            </a:r>
            <a:endParaRPr lang="en-US" sz="1400" dirty="0"/>
          </a:p>
          <a:p>
            <a:pPr algn="l" indent="0" marL="0">
              <a:buNone/>
            </a:pPr>
            <a:endParaRPr lang="en-US" sz="1400" dirty="0"/>
          </a:p>
          <a:p>
            <a:pPr algn="l" indent="0" marL="0">
              <a:buNone/>
            </a:pPr>
            <a:r>
              <a:rPr lang="en-US" sz="1400" dirty="0">
                <a:solidFill>
                  <a:srgbClr val="000000"/>
                </a:solidFill>
              </a:rPr>
              <a:t>B  25.</a:t>
            </a:r>
            <a:endParaRPr lang="en-US" sz="1400" dirty="0"/>
          </a:p>
          <a:p>
            <a:pPr algn="l" indent="0" marL="0">
              <a:buNone/>
            </a:pPr>
            <a:endParaRPr lang="en-US" sz="1400" dirty="0"/>
          </a:p>
          <a:p>
            <a:pPr algn="l" indent="0" marL="0">
              <a:buNone/>
            </a:pPr>
            <a:r>
              <a:rPr lang="en-US" sz="1400" dirty="0">
                <a:solidFill>
                  <a:srgbClr val="000000"/>
                </a:solidFill>
              </a:rPr>
              <a:t>B  26.</a:t>
            </a:r>
            <a:endParaRPr lang="en-US" sz="1400" dirty="0"/>
          </a:p>
          <a:p>
            <a:pPr algn="l" indent="0" marL="0">
              <a:buNone/>
            </a:pPr>
            <a:endParaRPr lang="en-US" sz="1400" dirty="0"/>
          </a:p>
          <a:p>
            <a:pPr algn="l" indent="0" marL="0">
              <a:buNone/>
            </a:pPr>
            <a:r>
              <a:rPr lang="en-US" sz="1400" dirty="0">
                <a:solidFill>
                  <a:srgbClr val="000000"/>
                </a:solidFill>
              </a:rPr>
              <a:t>B  27.</a:t>
            </a:r>
            <a:endParaRPr lang="en-US" sz="1400" dirty="0"/>
          </a:p>
          <a:p>
            <a:pPr algn="l" indent="0" marL="0">
              <a:buNone/>
            </a:pPr>
            <a:endParaRPr lang="en-US" sz="1400" dirty="0"/>
          </a:p>
          <a:p>
            <a:pPr algn="l" indent="0" marL="0">
              <a:buNone/>
            </a:pPr>
            <a:r>
              <a:rPr lang="en-US" sz="1400" dirty="0">
                <a:solidFill>
                  <a:srgbClr val="000000"/>
                </a:solidFill>
              </a:rPr>
              <a:t>A  28.</a:t>
            </a:r>
            <a:endParaRPr lang="en-US" sz="1400" dirty="0"/>
          </a:p>
          <a:p>
            <a:pPr algn="l" indent="0" marL="0">
              <a:buNone/>
            </a:pPr>
            <a:endParaRPr lang="en-US" sz="1400" dirty="0"/>
          </a:p>
          <a:p>
            <a:pPr algn="l" indent="0" marL="0">
              <a:buNone/>
            </a:pPr>
            <a:r>
              <a:rPr lang="en-US" sz="1400" dirty="0">
                <a:solidFill>
                  <a:srgbClr val="000000"/>
                </a:solidFill>
              </a:rPr>
              <a:t>A  29.</a:t>
            </a:r>
            <a:endParaRPr lang="en-US" sz="1400" dirty="0"/>
          </a:p>
          <a:p>
            <a:pPr algn="l" indent="0" marL="0">
              <a:buNone/>
            </a:pPr>
            <a:endParaRPr lang="en-US" sz="1400" dirty="0"/>
          </a:p>
          <a:p>
            <a:pPr algn="l" indent="0" marL="0">
              <a:buNone/>
            </a:pPr>
            <a:r>
              <a:rPr lang="en-US" sz="1400" dirty="0">
                <a:solidFill>
                  <a:srgbClr val="000000"/>
                </a:solidFill>
              </a:rPr>
              <a:t>C  30.</a:t>
            </a:r>
            <a:endParaRPr lang="en-US" sz="1400" dirty="0"/>
          </a:p>
          <a:p>
            <a:pPr algn="l" indent="0" marL="0">
              <a:buNone/>
            </a:pPr>
            <a:endParaRPr lang="en-US" sz="1400" dirty="0"/>
          </a:p>
          <a:p>
            <a:pPr algn="l" indent="0" marL="0">
              <a:buNone/>
            </a:pPr>
            <a:r>
              <a:rPr lang="en-US" sz="1400" dirty="0">
                <a:solidFill>
                  <a:srgbClr val="000000"/>
                </a:solidFill>
              </a:rPr>
              <a:t>C  31.</a:t>
            </a:r>
            <a:endParaRPr lang="en-US" sz="1400" dirty="0"/>
          </a:p>
          <a:p>
            <a:pPr algn="l" indent="0" marL="0">
              <a:buNone/>
            </a:pPr>
            <a:endParaRPr lang="en-US" sz="1400" dirty="0"/>
          </a:p>
          <a:p>
            <a:pPr algn="l" indent="0" marL="0">
              <a:buNone/>
            </a:pPr>
            <a:r>
              <a:rPr lang="en-US" sz="1400" dirty="0">
                <a:solidFill>
                  <a:srgbClr val="000000"/>
                </a:solidFill>
              </a:rPr>
              <a:t>D  32.</a:t>
            </a:r>
            <a:endParaRPr lang="en-US" sz="1400" dirty="0"/>
          </a:p>
          <a:p>
            <a:pPr algn="l" indent="0" marL="0">
              <a:buNone/>
            </a:pPr>
            <a:endParaRPr lang="en-US" sz="1400" dirty="0"/>
          </a:p>
          <a:p>
            <a:pPr algn="l" indent="0" marL="0">
              <a:buNone/>
            </a:pPr>
            <a:r>
              <a:rPr lang="en-US" sz="1400" dirty="0">
                <a:solidFill>
                  <a:srgbClr val="000000"/>
                </a:solidFill>
              </a:rPr>
              <a:t>B  33.</a:t>
            </a:r>
            <a:endParaRPr lang="en-US" sz="1400" dirty="0"/>
          </a:p>
          <a:p>
            <a:pPr algn="l" indent="0" marL="0">
              <a:buNone/>
            </a:pPr>
            <a:endParaRPr lang="en-US" sz="1400" dirty="0"/>
          </a:p>
          <a:p>
            <a:pPr algn="l" indent="0" marL="0">
              <a:buNone/>
            </a:pPr>
            <a:r>
              <a:rPr lang="en-US" sz="1400" dirty="0">
                <a:solidFill>
                  <a:srgbClr val="000000"/>
                </a:solidFill>
              </a:rPr>
              <a:t>B  34.</a:t>
            </a:r>
            <a:endParaRPr lang="en-US" sz="1400" dirty="0"/>
          </a:p>
          <a:p>
            <a:pPr algn="l" indent="0" marL="0">
              <a:buNone/>
            </a:pPr>
            <a:endParaRPr lang="en-US" sz="1400" dirty="0"/>
          </a:p>
          <a:p>
            <a:pPr algn="l" indent="0" marL="0">
              <a:buNone/>
            </a:pPr>
            <a:r>
              <a:rPr lang="en-US" sz="1400" dirty="0">
                <a:solidFill>
                  <a:srgbClr val="000000"/>
                </a:solidFill>
              </a:rPr>
              <a:t>B  35.</a:t>
            </a:r>
            <a:endParaRPr lang="en-US" sz="1400" dirty="0"/>
          </a:p>
          <a:p>
            <a:pPr algn="l" indent="0" marL="0">
              <a:buNone/>
            </a:pPr>
            <a:endParaRPr lang="en-US" sz="1400" dirty="0"/>
          </a:p>
          <a:p>
            <a:pPr algn="l" indent="0" marL="0">
              <a:buNone/>
            </a:pPr>
            <a:r>
              <a:rPr lang="en-US" sz="1400" dirty="0">
                <a:solidFill>
                  <a:srgbClr val="000000"/>
                </a:solidFill>
              </a:rPr>
              <a:t>A  36.</a:t>
            </a:r>
            <a:endParaRPr lang="en-US" sz="1400" dirty="0"/>
          </a:p>
          <a:p>
            <a:pPr algn="l" indent="0" marL="0">
              <a:buNone/>
            </a:pPr>
            <a:endParaRPr lang="en-US" sz="1400" dirty="0"/>
          </a:p>
          <a:p>
            <a:pPr algn="l" indent="0" marL="0">
              <a:buNone/>
            </a:pPr>
            <a:r>
              <a:rPr lang="en-US" sz="1400" dirty="0">
                <a:solidFill>
                  <a:srgbClr val="000000"/>
                </a:solidFill>
              </a:rPr>
              <a:t>A  37.</a:t>
            </a:r>
            <a:endParaRPr lang="en-US" sz="1400" dirty="0"/>
          </a:p>
          <a:p>
            <a:pPr algn="l" indent="0" marL="0">
              <a:buNone/>
            </a:pPr>
            <a:endParaRPr lang="en-US" sz="1400" dirty="0"/>
          </a:p>
          <a:p>
            <a:pPr algn="l" indent="0" marL="0">
              <a:buNone/>
            </a:pPr>
            <a:r>
              <a:rPr lang="en-US" sz="1400" dirty="0">
                <a:solidFill>
                  <a:srgbClr val="000000"/>
                </a:solidFill>
              </a:rPr>
              <a:t>A  38.</a:t>
            </a:r>
            <a:endParaRPr lang="en-US" sz="1400" dirty="0"/>
          </a:p>
          <a:p>
            <a:pPr algn="l" indent="0" marL="0">
              <a:buNone/>
            </a:pPr>
            <a:endParaRPr lang="en-US" sz="1400" dirty="0"/>
          </a:p>
          <a:p>
            <a:pPr algn="l" indent="0" marL="0">
              <a:buNone/>
            </a:pPr>
            <a:r>
              <a:rPr lang="en-US" sz="1400" dirty="0">
                <a:solidFill>
                  <a:srgbClr val="000000"/>
                </a:solidFill>
              </a:rPr>
              <a:t>A  39.</a:t>
            </a:r>
            <a:endParaRPr lang="en-US" sz="1400" dirty="0"/>
          </a:p>
          <a:p>
            <a:pPr algn="l" indent="0" marL="0">
              <a:buNone/>
            </a:pPr>
            <a:endParaRPr lang="en-US" sz="1400" dirty="0"/>
          </a:p>
          <a:p>
            <a:pPr algn="l" indent="0" marL="0">
              <a:buNone/>
            </a:pPr>
            <a:r>
              <a:rPr lang="en-US" sz="1400" dirty="0">
                <a:solidFill>
                  <a:srgbClr val="000000"/>
                </a:solidFill>
              </a:rPr>
              <a:t>A  40.</a:t>
            </a:r>
            <a:endParaRPr lang="en-US" sz="1400" dirty="0"/>
          </a:p>
          <a:p>
            <a:pPr algn="l" indent="0" marL="0">
              <a:buNone/>
            </a:pPr>
            <a:endParaRPr lang="en-US" sz="1400" dirty="0"/>
          </a:p>
          <a:p>
            <a:pPr algn="l" indent="0" marL="0">
              <a:buNone/>
            </a:pPr>
            <a:r>
              <a:rPr lang="en-US" sz="1400" dirty="0">
                <a:solidFill>
                  <a:srgbClr val="000000"/>
                </a:solidFill>
              </a:rPr>
              <a:t>B</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AFD IMPORTANT QUESTIONS  1.</a:t>
            </a:r>
            <a:endParaRPr lang="en-US" sz="1400" dirty="0"/>
          </a:p>
          <a:p>
            <a:pPr algn="l" indent="0" marL="0">
              <a:buNone/>
            </a:pPr>
            <a:endParaRPr lang="en-US" sz="1400" dirty="0"/>
          </a:p>
          <a:p>
            <a:pPr algn="l" indent="0" marL="0">
              <a:buNone/>
            </a:pPr>
            <a:r>
              <a:rPr lang="en-US" sz="1400" dirty="0">
                <a:solidFill>
                  <a:srgbClr val="000000"/>
                </a:solidFill>
              </a:rPr>
              <a:t>What is React, and how does it help developers? Also, differentiate between props and state in React.  2.</a:t>
            </a:r>
            <a:endParaRPr lang="en-US" sz="1400" dirty="0"/>
          </a:p>
          <a:p>
            <a:pPr algn="l" indent="0" marL="0">
              <a:buNone/>
            </a:pPr>
            <a:endParaRPr lang="en-US" sz="1400" dirty="0"/>
          </a:p>
          <a:p>
            <a:pPr algn="l" indent="0" marL="0">
              <a:buNone/>
            </a:pPr>
            <a:r>
              <a:rPr lang="en-US" sz="1400" dirty="0">
                <a:solidFill>
                  <a:srgbClr val="000000"/>
                </a:solidFill>
              </a:rPr>
              <a:t>What is the Virtual DOM, and how does it improve performance in React applications?  3.</a:t>
            </a:r>
            <a:endParaRPr lang="en-US" sz="1400" dirty="0"/>
          </a:p>
          <a:p>
            <a:pPr algn="l" indent="0" marL="0">
              <a:buNone/>
            </a:pPr>
            <a:endParaRPr lang="en-US" sz="1400" dirty="0"/>
          </a:p>
          <a:p>
            <a:pPr algn="l" indent="0" marL="0">
              <a:buNone/>
            </a:pPr>
            <a:r>
              <a:rPr lang="en-US" sz="1400" dirty="0">
                <a:solidFill>
                  <a:srgbClr val="000000"/>
                </a:solidFill>
              </a:rPr>
              <a:t>Explain the execution order of synchronous code, Promises (Microtask queue), and setTimeout (Callback queue) in the JavaScript Event Loop.  4.</a:t>
            </a:r>
            <a:endParaRPr lang="en-US" sz="1400" dirty="0"/>
          </a:p>
          <a:p>
            <a:pPr algn="l" indent="0" marL="0">
              <a:buNone/>
            </a:pPr>
            <a:endParaRPr lang="en-US" sz="1400" dirty="0"/>
          </a:p>
          <a:p>
            <a:pPr algn="l" indent="0" marL="0">
              <a:buNone/>
            </a:pPr>
            <a:r>
              <a:rPr lang="en-US" sz="1400" dirty="0">
                <a:solidFill>
                  <a:srgbClr val="000000"/>
                </a:solidFill>
              </a:rPr>
              <a:t>What is conditional rendering in React? What are the different ways to implement conditional rendering? Explain with examples.  5.</a:t>
            </a:r>
            <a:endParaRPr lang="en-US" sz="1400" dirty="0"/>
          </a:p>
          <a:p>
            <a:pPr algn="l" indent="0" marL="0">
              <a:buNone/>
            </a:pPr>
            <a:endParaRPr lang="en-US" sz="1400" dirty="0"/>
          </a:p>
          <a:p>
            <a:pPr algn="l" indent="0" marL="0">
              <a:buNone/>
            </a:pPr>
            <a:r>
              <a:rPr lang="en-US" sz="1400" dirty="0">
                <a:solidFill>
                  <a:srgbClr val="000000"/>
                </a:solidFill>
              </a:rPr>
              <a:t>Describe the req-res-next cycle in Express.js middleware and explain how error-handling middleware differs from regular middleware.  6.</a:t>
            </a:r>
            <a:endParaRPr lang="en-US" sz="1400" dirty="0"/>
          </a:p>
          <a:p>
            <a:pPr algn="l" indent="0" marL="0">
              <a:buNone/>
            </a:pPr>
            <a:endParaRPr lang="en-US" sz="1400" dirty="0"/>
          </a:p>
          <a:p>
            <a:pPr algn="l" indent="0" marL="0">
              <a:buNone/>
            </a:pPr>
            <a:r>
              <a:rPr lang="en-US" sz="1400" dirty="0">
                <a:solidFill>
                  <a:srgbClr val="000000"/>
                </a:solidFill>
              </a:rPr>
              <a:t>What is React, and how does it help developers? Also, differentiate between props and state in React.  7.</a:t>
            </a:r>
            <a:endParaRPr lang="en-US" sz="1400" dirty="0"/>
          </a:p>
          <a:p>
            <a:pPr algn="l" indent="0" marL="0">
              <a:buNone/>
            </a:pPr>
            <a:endParaRPr lang="en-US" sz="1400" dirty="0"/>
          </a:p>
          <a:p>
            <a:pPr algn="l" indent="0" marL="0">
              <a:buNone/>
            </a:pPr>
            <a:r>
              <a:rPr lang="en-US" sz="1400" dirty="0">
                <a:solidFill>
                  <a:srgbClr val="000000"/>
                </a:solidFill>
              </a:rPr>
              <a:t>What are React Hooks, and what are the strict rules for using them?  8.</a:t>
            </a:r>
            <a:endParaRPr lang="en-US" sz="1400" dirty="0"/>
          </a:p>
          <a:p>
            <a:pPr algn="l" indent="0" marL="0">
              <a:buNone/>
            </a:pPr>
            <a:endParaRPr lang="en-US" sz="1400" dirty="0"/>
          </a:p>
          <a:p>
            <a:pPr algn="l" indent="0" marL="0">
              <a:buNone/>
            </a:pPr>
            <a:r>
              <a:rPr lang="en-US" sz="1400" dirty="0">
                <a:solidFill>
                  <a:srgbClr val="000000"/>
                </a:solidFill>
              </a:rPr>
              <a:t>Explain the concept of Prop Drilling and provide one standard way to avoid it in React.  9.</a:t>
            </a:r>
            <a:endParaRPr lang="en-US" sz="1400" dirty="0"/>
          </a:p>
          <a:p>
            <a:pPr algn="l" indent="0" marL="0">
              <a:buNone/>
            </a:pPr>
            <a:endParaRPr lang="en-US" sz="1400" dirty="0"/>
          </a:p>
          <a:p>
            <a:pPr algn="l" indent="0" marL="0">
              <a:buNone/>
            </a:pPr>
            <a:r>
              <a:rPr lang="en-US" sz="1400" dirty="0">
                <a:solidFill>
                  <a:srgbClr val="000000"/>
                </a:solidFill>
              </a:rPr>
              <a:t>Write a short explanation and code snippet showing how to implement an uncontrolled input field in React.  10.</a:t>
            </a:r>
            <a:endParaRPr lang="en-US" sz="1400" dirty="0"/>
          </a:p>
          <a:p>
            <a:pPr algn="l" indent="0" marL="0">
              <a:buNone/>
            </a:pPr>
            <a:endParaRPr lang="en-US" sz="1400" dirty="0"/>
          </a:p>
          <a:p>
            <a:pPr algn="l" indent="0" marL="0">
              <a:buNone/>
            </a:pPr>
            <a:r>
              <a:rPr lang="en-US" sz="1400" dirty="0">
                <a:solidFill>
                  <a:srgbClr val="000000"/>
                </a:solidFill>
              </a:rPr>
              <a:t>What is JWT (JSON Web Token) Authentication? Explain the complete authentication flow from user login to accessing a protected route using JWT.  11.</a:t>
            </a:r>
            <a:endParaRPr lang="en-US" sz="1400" dirty="0"/>
          </a:p>
          <a:p>
            <a:pPr algn="l" indent="0" marL="0">
              <a:buNone/>
            </a:pPr>
            <a:endParaRPr lang="en-US" sz="1400" dirty="0"/>
          </a:p>
          <a:p>
            <a:pPr algn="l" indent="0" marL="0">
              <a:buNone/>
            </a:pPr>
            <a:r>
              <a:rPr lang="en-US" sz="1400" dirty="0">
                <a:solidFill>
                  <a:srgbClr val="000000"/>
                </a:solidFill>
              </a:rPr>
              <a:t>What is React, and how does it help developers? Also, differentiate between props and state in React.  12.</a:t>
            </a:r>
            <a:endParaRPr lang="en-US" sz="1400" dirty="0"/>
          </a:p>
          <a:p>
            <a:pPr algn="l" indent="0" marL="0">
              <a:buNone/>
            </a:pPr>
            <a:endParaRPr lang="en-US" sz="1400" dirty="0"/>
          </a:p>
          <a:p>
            <a:pPr algn="l" indent="0" marL="0">
              <a:buNone/>
            </a:pPr>
            <a:r>
              <a:rPr lang="en-US" sz="1400" dirty="0">
                <a:solidFill>
                  <a:srgbClr val="000000"/>
                </a:solidFill>
              </a:rPr>
              <a:t>Explain the concept of "One-Way Data Flow" in React.  13.</a:t>
            </a:r>
            <a:endParaRPr lang="en-US" sz="1400" dirty="0"/>
          </a:p>
          <a:p>
            <a:pPr algn="l" indent="0" marL="0">
              <a:buNone/>
            </a:pPr>
            <a:endParaRPr lang="en-US" sz="1400" dirty="0"/>
          </a:p>
          <a:p>
            <a:pPr algn="l" indent="0" marL="0">
              <a:buNone/>
            </a:pPr>
            <a:r>
              <a:rPr lang="en-US" sz="1400" dirty="0">
                <a:solidFill>
                  <a:srgbClr val="000000"/>
                </a:solidFill>
              </a:rPr>
              <a:t>Provide an example of how to use a cleanup function inside useEffect and explain when it executes.  14.</a:t>
            </a:r>
            <a:endParaRPr lang="en-US" sz="1400" dirty="0"/>
          </a:p>
          <a:p>
            <a:pPr algn="l" indent="0" marL="0">
              <a:buNone/>
            </a:pPr>
            <a:endParaRPr lang="en-US" sz="1400" dirty="0"/>
          </a:p>
          <a:p>
            <a:pPr algn="l" indent="0" marL="0">
              <a:buNone/>
            </a:pPr>
            <a:r>
              <a:rPr lang="en-US" sz="1400" dirty="0">
                <a:solidFill>
                  <a:srgbClr val="000000"/>
                </a:solidFill>
              </a:rPr>
              <a:t>Describe the MVC (Model-View-Controller) architecture pattern within the context of an Express and Mongoose backend.  15.</a:t>
            </a:r>
            <a:endParaRPr lang="en-US" sz="1400" dirty="0"/>
          </a:p>
          <a:p>
            <a:pPr algn="l" indent="0" marL="0">
              <a:buNone/>
            </a:pPr>
            <a:endParaRPr lang="en-US" sz="1400" dirty="0"/>
          </a:p>
          <a:p>
            <a:pPr algn="l" indent="0" marL="0">
              <a:buNone/>
            </a:pPr>
            <a:r>
              <a:rPr lang="en-US" sz="1400" dirty="0">
                <a:solidFill>
                  <a:srgbClr val="000000"/>
                </a:solidFill>
              </a:rPr>
              <a:t>What is middleware in Express.js? Also, write an example to initialize an Express server and create basic GET and POST routes, including all required middleware to handle requests.  CODECHEF IMPORTANT QUESTIONS:  1.</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https://www.codechef.com/learn/course/undefined/FREEPROB/problems/AFDQ16?f  older=%2Fhome%2Fchef%2Fworkspace  2.</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https://www.codechef.com/learn/course/undefined/FREEPROB/problems/AFDQ17?f  older=%2Fhome%2Fchef%2Fworkspace  3.</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https://www.codechef.com/learn/course/undefined/FREEPROB/problems/AFDQ18?f  older=%2Fhome%2Fchef%2Fworkspace  4.</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https://www.codechef.com/learn/course/undefined/FREEPROB/problems/AFDQ19?f  older=%2Fhome%2Fchef%2Fworkspace  5.</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https://www.codechef.com/learn/course/undefined/FREEPROB/problems/AFDQ20?f  older=%2Fhome%2Fchef%2Fworkspace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4629150"/>
          </a:xfrm>
          <a:prstGeom prst="rect">
            <a:avLst/>
          </a:prstGeom>
          <a:noFill/>
          <a:ln/>
        </p:spPr>
        <p:txBody>
          <a:bodyPr wrap="square" rtlCol="0" anchor="t"/>
          <a:lstStyle/>
          <a:p>
            <a:pPr algn="l" indent="0" marL="0">
              <a:buNone/>
            </a:pPr>
            <a:r>
              <a:rPr lang="en-US" sz="1400" dirty="0">
                <a:solidFill>
                  <a:srgbClr val="000000"/>
                </a:solidFill>
              </a:rPr>
              <a:t>6.</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https://www.codechef.com/learn/course/undefined/FREEPROB/problems/AFDQ21?f  older=%2Fhome%2Fchef%2Fworkspace  7.</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https://www.codechef.com/learn/course/undefined/FREEPROB/problems/AFDQ22?f  older=%2Fhome%2Fchef%2Fworkspace  8.</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https://www.codechef.com/learn/course/undefined/FREEPROB/problems/AFDQ8?fol  der=%2Fhome%2Fchef%2Fworkspace  9.</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https://www.codechef.com/learn/course/undefined/FREEPROB/problems/AFDQ9?fol  der=%2Fhome%2Fchef%2Fworkspace  10.</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https://www.codechef.com/learn/course/undefined/FREEPROB/problems/AFDQ10?f  older=%2Fhome%2Fchef%2Fworkspace  11.</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https://www.codechef.com/learn/course/undefined/FREEPROB/problems/AFDQ11?fo  lder=%2Fhome%2Fchef%2Fworkspace  12.</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https://www.codechef.com/learn/course/undefined/FREEPROB/problems/AFDQ12?f  older=%2Fhome%2Fchef%2Fworkspace  13.</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https://www.codechef.com/learn/course/undefined/FREEPROB/problems/AFDQ13?f  older=%2Fhome%2Fchef%2Fworkspace  14.</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https://www.codechef.com/learn/course/undefined/FREEPROB/problems/AFDQ14?f  older=%2Fhome%2Fchef%2Fworkspace  15.</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https://www.codechef.com/learn/course/undefined/FREEPROB/problems/AFDQ1?fol  der=%2Fhome%2Fchef%2Fworkspace  16.</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https://www.codechef.com/learn/course/undefined/FREEPROB/problems/AFDQ2?fol  der=%2Fhome%2Fchef%2Fworkspace  17.</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https://www.codechef.com/learn/course/undefined/FREEPROB/problems/AFDQ3?fol  der=%2Fhome%2Fchef%2Fworkspace  18.</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https://www.codechef.com/learn/course/undefined/FREEPROB/problems/AFDQ4?fol  der=%2Fhome%2Fchef%2Fworkspace  19.</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https://www.codechef.com/learn/course/undefined/FREEPROB/problems/AFDQ5?fol  der=%2Fhome%2Fchef%2Fworkspace  20.</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https://www.codechef.com/learn/course/undefined/FREEPROB/problems/AFDQ6?fol  der=%2Fhome%2Fchef%2Fworkspace  21.</a:t>
            </a:r>
            <a:endParaRPr lang="en-US" sz="1400" dirty="0"/>
          </a:p>
          <a:p>
            <a:pPr algn="l" indent="0" marL="0">
              <a:buNone/>
            </a:pPr>
            <a:endParaRPr lang="en-US" sz="1400" dirty="0"/>
          </a:p>
          <a:p>
            <a:pPr algn="l" indent="0" marL="0">
              <a:buNone/>
            </a:pPr>
            <a:r>
              <a:rPr lang="en-US" sz="1400" dirty="0">
                <a:solidFill>
                  <a:srgbClr val="000000"/>
                </a:solidFill>
              </a:rPr>
              <a:t>https://www.codechef.com/learn/course/undefined/FREEPROB/problems/AFDQ7?fol  der=%2Fhome%2Fchef%2Fworkspace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2026-06-05T10:26:57Z</dcterms:created>
  <dcterms:modified xsi:type="dcterms:W3CDTF">2026-06-05T10:26:57Z</dcterms:modified>
</cp:coreProperties>
</file>